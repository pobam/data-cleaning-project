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580"/>
  </p:normalViewPr>
  <p:slideViewPr>
    <p:cSldViewPr snapToGrid="0">
      <p:cViewPr varScale="1">
        <p:scale>
          <a:sx n="92" d="100"/>
          <a:sy n="92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eggyobam/Desktop/Excel%20&amp;%20Power%20Bi%20Data%20Visualization/Peggy%20Obam-1.05%20Project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eggyobam/Desktop/Excel%20&amp;%20Power%20Bi%20Data%20Visualization/Peggy%20Obam-1.05%20Project%20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eggyobam/Desktop/Excel%20&amp;%20Power%20Bi%20Data%20Visualization/Peggy%20Obam-1.05%20Project%20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peggyobam/Desktop/Excel%20&amp;%20Power%20Bi%20Data%20Visualization/Peggy%20Obam-1.05%20Project%20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[Peggy Obam-1.05 Project 1.xlsx]Credit in August!PivotTable7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Credit done in August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'Credit in August'!$B$3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'Credit in August'!$A$4:$A$35</c:f>
              <c:strCache>
                <c:ptCount val="31"/>
                <c:pt idx="0">
                  <c:v>8/1/18</c:v>
                </c:pt>
                <c:pt idx="1">
                  <c:v>8/2/18</c:v>
                </c:pt>
                <c:pt idx="2">
                  <c:v>8/3/18</c:v>
                </c:pt>
                <c:pt idx="3">
                  <c:v>8/4/18</c:v>
                </c:pt>
                <c:pt idx="4">
                  <c:v>8/5/18</c:v>
                </c:pt>
                <c:pt idx="5">
                  <c:v>8/6/18</c:v>
                </c:pt>
                <c:pt idx="6">
                  <c:v>8/7/18</c:v>
                </c:pt>
                <c:pt idx="7">
                  <c:v>8/8/18</c:v>
                </c:pt>
                <c:pt idx="8">
                  <c:v>8/9/18</c:v>
                </c:pt>
                <c:pt idx="9">
                  <c:v>8/10/18</c:v>
                </c:pt>
                <c:pt idx="10">
                  <c:v>8/11/18</c:v>
                </c:pt>
                <c:pt idx="11">
                  <c:v>8/12/18</c:v>
                </c:pt>
                <c:pt idx="12">
                  <c:v>8/13/18</c:v>
                </c:pt>
                <c:pt idx="13">
                  <c:v>8/14/18</c:v>
                </c:pt>
                <c:pt idx="14">
                  <c:v>8/15/18</c:v>
                </c:pt>
                <c:pt idx="15">
                  <c:v>8/17/18</c:v>
                </c:pt>
                <c:pt idx="16">
                  <c:v>8/18/18</c:v>
                </c:pt>
                <c:pt idx="17">
                  <c:v>8/19/18</c:v>
                </c:pt>
                <c:pt idx="18">
                  <c:v>8/20/18</c:v>
                </c:pt>
                <c:pt idx="19">
                  <c:v>8/21/18</c:v>
                </c:pt>
                <c:pt idx="20">
                  <c:v>8/22/18</c:v>
                </c:pt>
                <c:pt idx="21">
                  <c:v>8/23/18</c:v>
                </c:pt>
                <c:pt idx="22">
                  <c:v>8/24/18</c:v>
                </c:pt>
                <c:pt idx="23">
                  <c:v>8/25/18</c:v>
                </c:pt>
                <c:pt idx="24">
                  <c:v>8/26/18</c:v>
                </c:pt>
                <c:pt idx="25">
                  <c:v>8/27/18</c:v>
                </c:pt>
                <c:pt idx="26">
                  <c:v>8/28/18</c:v>
                </c:pt>
                <c:pt idx="27">
                  <c:v>8/29/18</c:v>
                </c:pt>
                <c:pt idx="28">
                  <c:v>8/30/18</c:v>
                </c:pt>
                <c:pt idx="29">
                  <c:v>8/31/18</c:v>
                </c:pt>
                <c:pt idx="30">
                  <c:v>(blank)</c:v>
                </c:pt>
              </c:strCache>
            </c:strRef>
          </c:cat>
          <c:val>
            <c:numRef>
              <c:f>'Credit in August'!$B$4:$B$35</c:f>
              <c:numCache>
                <c:formatCode>General</c:formatCode>
                <c:ptCount val="31"/>
                <c:pt idx="0">
                  <c:v>137</c:v>
                </c:pt>
                <c:pt idx="1">
                  <c:v>152</c:v>
                </c:pt>
                <c:pt idx="2">
                  <c:v>157</c:v>
                </c:pt>
                <c:pt idx="3">
                  <c:v>118</c:v>
                </c:pt>
                <c:pt idx="4">
                  <c:v>100</c:v>
                </c:pt>
                <c:pt idx="5">
                  <c:v>99</c:v>
                </c:pt>
                <c:pt idx="6">
                  <c:v>114</c:v>
                </c:pt>
                <c:pt idx="7">
                  <c:v>141</c:v>
                </c:pt>
                <c:pt idx="8">
                  <c:v>149</c:v>
                </c:pt>
                <c:pt idx="9">
                  <c:v>151</c:v>
                </c:pt>
                <c:pt idx="10">
                  <c:v>131</c:v>
                </c:pt>
                <c:pt idx="11">
                  <c:v>109</c:v>
                </c:pt>
                <c:pt idx="12">
                  <c:v>104</c:v>
                </c:pt>
                <c:pt idx="13">
                  <c:v>117</c:v>
                </c:pt>
                <c:pt idx="14">
                  <c:v>144</c:v>
                </c:pt>
                <c:pt idx="15">
                  <c:v>172</c:v>
                </c:pt>
                <c:pt idx="16">
                  <c:v>136</c:v>
                </c:pt>
                <c:pt idx="17">
                  <c:v>118</c:v>
                </c:pt>
                <c:pt idx="18">
                  <c:v>97</c:v>
                </c:pt>
                <c:pt idx="19">
                  <c:v>118</c:v>
                </c:pt>
                <c:pt idx="20">
                  <c:v>150</c:v>
                </c:pt>
                <c:pt idx="21">
                  <c:v>152</c:v>
                </c:pt>
                <c:pt idx="22">
                  <c:v>156</c:v>
                </c:pt>
                <c:pt idx="23">
                  <c:v>131</c:v>
                </c:pt>
                <c:pt idx="24">
                  <c:v>116</c:v>
                </c:pt>
                <c:pt idx="25">
                  <c:v>111</c:v>
                </c:pt>
                <c:pt idx="26">
                  <c:v>128</c:v>
                </c:pt>
                <c:pt idx="27">
                  <c:v>139</c:v>
                </c:pt>
                <c:pt idx="28">
                  <c:v>143</c:v>
                </c:pt>
                <c:pt idx="29">
                  <c:v>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BC-BA4C-B1D1-7D222B151A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29154688"/>
        <c:axId val="347418992"/>
      </c:lineChart>
      <c:catAx>
        <c:axId val="729154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418992"/>
        <c:crosses val="autoZero"/>
        <c:auto val="1"/>
        <c:lblAlgn val="ctr"/>
        <c:lblOffset val="100"/>
        <c:noMultiLvlLbl val="0"/>
      </c:catAx>
      <c:valAx>
        <c:axId val="34741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154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[Peggy Obam-1.05 Project 1.xlsx]Total Amount done by Individual!PivotTable3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Amount</a:t>
            </a:r>
            <a:r>
              <a:rPr lang="en-US" baseline="0"/>
              <a:t> Transacted by Individual from </a:t>
            </a:r>
          </a:p>
          <a:p>
            <a:pPr>
              <a:defRPr/>
            </a:pPr>
            <a:r>
              <a:rPr lang="en-US" baseline="0"/>
              <a:t>Aug-October,2018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'Total Amount done by Individual'!$B$3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'Total Amount done by Individual'!$A$4:$A$85</c:f>
              <c:strCache>
                <c:ptCount val="81"/>
                <c:pt idx="0">
                  <c:v>Abigail</c:v>
                </c:pt>
                <c:pt idx="1">
                  <c:v>Alexander</c:v>
                </c:pt>
                <c:pt idx="2">
                  <c:v>Amy</c:v>
                </c:pt>
                <c:pt idx="3">
                  <c:v>Andrew</c:v>
                </c:pt>
                <c:pt idx="4">
                  <c:v>Antonio</c:v>
                </c:pt>
                <c:pt idx="5">
                  <c:v>Ashley</c:v>
                </c:pt>
                <c:pt idx="6">
                  <c:v>Barry</c:v>
                </c:pt>
                <c:pt idx="7">
                  <c:v>Billy</c:v>
                </c:pt>
                <c:pt idx="8">
                  <c:v>Brian</c:v>
                </c:pt>
                <c:pt idx="9">
                  <c:v>Catherine</c:v>
                </c:pt>
                <c:pt idx="10">
                  <c:v>Charles</c:v>
                </c:pt>
                <c:pt idx="11">
                  <c:v>Christine</c:v>
                </c:pt>
                <c:pt idx="12">
                  <c:v>Christopher</c:v>
                </c:pt>
                <c:pt idx="13">
                  <c:v>Cindy</c:v>
                </c:pt>
                <c:pt idx="14">
                  <c:v>Craig</c:v>
                </c:pt>
                <c:pt idx="15">
                  <c:v>Daniel</c:v>
                </c:pt>
                <c:pt idx="16">
                  <c:v>Darren</c:v>
                </c:pt>
                <c:pt idx="17">
                  <c:v>David</c:v>
                </c:pt>
                <c:pt idx="18">
                  <c:v>Debra</c:v>
                </c:pt>
                <c:pt idx="19">
                  <c:v>Derek</c:v>
                </c:pt>
                <c:pt idx="20">
                  <c:v>Diana</c:v>
                </c:pt>
                <c:pt idx="21">
                  <c:v>Donald</c:v>
                </c:pt>
                <c:pt idx="22">
                  <c:v>Dustin</c:v>
                </c:pt>
                <c:pt idx="23">
                  <c:v>Edward</c:v>
                </c:pt>
                <c:pt idx="24">
                  <c:v>Elizabeth</c:v>
                </c:pt>
                <c:pt idx="25">
                  <c:v>Emily</c:v>
                </c:pt>
                <c:pt idx="26">
                  <c:v>Eric</c:v>
                </c:pt>
                <c:pt idx="27">
                  <c:v>Fernando</c:v>
                </c:pt>
                <c:pt idx="28">
                  <c:v>Gregory</c:v>
                </c:pt>
                <c:pt idx="29">
                  <c:v>Heather</c:v>
                </c:pt>
                <c:pt idx="30">
                  <c:v>Isaiah</c:v>
                </c:pt>
                <c:pt idx="31">
                  <c:v>Jacqueline</c:v>
                </c:pt>
                <c:pt idx="32">
                  <c:v>James</c:v>
                </c:pt>
                <c:pt idx="33">
                  <c:v>Jeffrey</c:v>
                </c:pt>
                <c:pt idx="34">
                  <c:v>Jessica</c:v>
                </c:pt>
                <c:pt idx="35">
                  <c:v>Jonathan</c:v>
                </c:pt>
                <c:pt idx="36">
                  <c:v>Joseph</c:v>
                </c:pt>
                <c:pt idx="37">
                  <c:v>Kaitlyn</c:v>
                </c:pt>
                <c:pt idx="38">
                  <c:v>Karen</c:v>
                </c:pt>
                <c:pt idx="39">
                  <c:v>Kenneth</c:v>
                </c:pt>
                <c:pt idx="40">
                  <c:v>Kimberly</c:v>
                </c:pt>
                <c:pt idx="41">
                  <c:v>Kristin</c:v>
                </c:pt>
                <c:pt idx="42">
                  <c:v>Linda</c:v>
                </c:pt>
                <c:pt idx="43">
                  <c:v>Lori</c:v>
                </c:pt>
                <c:pt idx="44">
                  <c:v>Lucas</c:v>
                </c:pt>
                <c:pt idx="45">
                  <c:v>Luis</c:v>
                </c:pt>
                <c:pt idx="46">
                  <c:v>Mackenzie</c:v>
                </c:pt>
                <c:pt idx="47">
                  <c:v>Maria</c:v>
                </c:pt>
                <c:pt idx="48">
                  <c:v>Marissa</c:v>
                </c:pt>
                <c:pt idx="49">
                  <c:v>Mary</c:v>
                </c:pt>
                <c:pt idx="50">
                  <c:v>Matthew</c:v>
                </c:pt>
                <c:pt idx="51">
                  <c:v>Melissa</c:v>
                </c:pt>
                <c:pt idx="52">
                  <c:v>Michael</c:v>
                </c:pt>
                <c:pt idx="53">
                  <c:v>Michele</c:v>
                </c:pt>
                <c:pt idx="54">
                  <c:v>Michelle</c:v>
                </c:pt>
                <c:pt idx="55">
                  <c:v>Natasha</c:v>
                </c:pt>
                <c:pt idx="56">
                  <c:v>Nathaniel</c:v>
                </c:pt>
                <c:pt idx="57">
                  <c:v>Patrick</c:v>
                </c:pt>
                <c:pt idx="58">
                  <c:v>Paul</c:v>
                </c:pt>
                <c:pt idx="59">
                  <c:v>Rachael</c:v>
                </c:pt>
                <c:pt idx="60">
                  <c:v>Renee</c:v>
                </c:pt>
                <c:pt idx="61">
                  <c:v>Rhonda</c:v>
                </c:pt>
                <c:pt idx="62">
                  <c:v>Richard</c:v>
                </c:pt>
                <c:pt idx="63">
                  <c:v>Ricky</c:v>
                </c:pt>
                <c:pt idx="64">
                  <c:v>Robert</c:v>
                </c:pt>
                <c:pt idx="65">
                  <c:v>Robin</c:v>
                </c:pt>
                <c:pt idx="66">
                  <c:v>Ronald</c:v>
                </c:pt>
                <c:pt idx="67">
                  <c:v>Ruth</c:v>
                </c:pt>
                <c:pt idx="68">
                  <c:v>Ryan</c:v>
                </c:pt>
                <c:pt idx="69">
                  <c:v>Sandra</c:v>
                </c:pt>
                <c:pt idx="70">
                  <c:v>Sarah</c:v>
                </c:pt>
                <c:pt idx="71">
                  <c:v>Scott</c:v>
                </c:pt>
                <c:pt idx="72">
                  <c:v>Stephanie</c:v>
                </c:pt>
                <c:pt idx="73">
                  <c:v>Susan</c:v>
                </c:pt>
                <c:pt idx="74">
                  <c:v>Tiffany</c:v>
                </c:pt>
                <c:pt idx="75">
                  <c:v>Tim</c:v>
                </c:pt>
                <c:pt idx="76">
                  <c:v>Timothy</c:v>
                </c:pt>
                <c:pt idx="77">
                  <c:v>Tonya</c:v>
                </c:pt>
                <c:pt idx="78">
                  <c:v>Tyler</c:v>
                </c:pt>
                <c:pt idx="79">
                  <c:v>Virginia</c:v>
                </c:pt>
                <c:pt idx="80">
                  <c:v>(blank)</c:v>
                </c:pt>
              </c:strCache>
            </c:strRef>
          </c:cat>
          <c:val>
            <c:numRef>
              <c:f>'Total Amount done by Individual'!$B$4:$B$85</c:f>
              <c:numCache>
                <c:formatCode>General</c:formatCode>
                <c:ptCount val="81"/>
                <c:pt idx="0">
                  <c:v>29711.919999999998</c:v>
                </c:pt>
                <c:pt idx="1">
                  <c:v>27698.180000000004</c:v>
                </c:pt>
                <c:pt idx="2">
                  <c:v>14763.140000000001</c:v>
                </c:pt>
                <c:pt idx="3">
                  <c:v>10845.25</c:v>
                </c:pt>
                <c:pt idx="4">
                  <c:v>22141.51</c:v>
                </c:pt>
                <c:pt idx="5">
                  <c:v>20596.110000000004</c:v>
                </c:pt>
                <c:pt idx="6">
                  <c:v>19221.000000000004</c:v>
                </c:pt>
                <c:pt idx="7">
                  <c:v>32243.17</c:v>
                </c:pt>
                <c:pt idx="8">
                  <c:v>28265.480000000003</c:v>
                </c:pt>
                <c:pt idx="9">
                  <c:v>14922.509999999998</c:v>
                </c:pt>
                <c:pt idx="10">
                  <c:v>34020.499999999993</c:v>
                </c:pt>
                <c:pt idx="11">
                  <c:v>32198.920000000002</c:v>
                </c:pt>
                <c:pt idx="12">
                  <c:v>43639.700000000004</c:v>
                </c:pt>
                <c:pt idx="13">
                  <c:v>24950.269999999997</c:v>
                </c:pt>
                <c:pt idx="14">
                  <c:v>33459.56</c:v>
                </c:pt>
                <c:pt idx="15">
                  <c:v>33085.749999999993</c:v>
                </c:pt>
                <c:pt idx="16">
                  <c:v>13645.240000000002</c:v>
                </c:pt>
                <c:pt idx="17">
                  <c:v>14216.009999999998</c:v>
                </c:pt>
                <c:pt idx="18">
                  <c:v>12438.05</c:v>
                </c:pt>
                <c:pt idx="19">
                  <c:v>20515.560000000009</c:v>
                </c:pt>
                <c:pt idx="20">
                  <c:v>26211.589999999997</c:v>
                </c:pt>
                <c:pt idx="21">
                  <c:v>15324.859999999999</c:v>
                </c:pt>
                <c:pt idx="22">
                  <c:v>17010.600000000002</c:v>
                </c:pt>
                <c:pt idx="23">
                  <c:v>16932.259999999998</c:v>
                </c:pt>
                <c:pt idx="24">
                  <c:v>13522.71</c:v>
                </c:pt>
                <c:pt idx="25">
                  <c:v>13259.720000000003</c:v>
                </c:pt>
                <c:pt idx="26">
                  <c:v>32111.970000000005</c:v>
                </c:pt>
                <c:pt idx="27">
                  <c:v>21422.690000000002</c:v>
                </c:pt>
                <c:pt idx="28">
                  <c:v>14692.24</c:v>
                </c:pt>
                <c:pt idx="29">
                  <c:v>18754.060000000005</c:v>
                </c:pt>
                <c:pt idx="30">
                  <c:v>34511.200000000004</c:v>
                </c:pt>
                <c:pt idx="31">
                  <c:v>15400.630000000001</c:v>
                </c:pt>
                <c:pt idx="32">
                  <c:v>26521.550000000003</c:v>
                </c:pt>
                <c:pt idx="33">
                  <c:v>33663.239999999983</c:v>
                </c:pt>
                <c:pt idx="34">
                  <c:v>63533.73</c:v>
                </c:pt>
                <c:pt idx="35">
                  <c:v>21502.620000000003</c:v>
                </c:pt>
                <c:pt idx="36">
                  <c:v>44996.169999999991</c:v>
                </c:pt>
                <c:pt idx="37">
                  <c:v>18810.09</c:v>
                </c:pt>
                <c:pt idx="38">
                  <c:v>13614.829999999998</c:v>
                </c:pt>
                <c:pt idx="39">
                  <c:v>82195.290000000008</c:v>
                </c:pt>
                <c:pt idx="40">
                  <c:v>44853.049999999996</c:v>
                </c:pt>
                <c:pt idx="41">
                  <c:v>22312.12000000001</c:v>
                </c:pt>
                <c:pt idx="42">
                  <c:v>51807.909999999989</c:v>
                </c:pt>
                <c:pt idx="43">
                  <c:v>15463.590000000002</c:v>
                </c:pt>
                <c:pt idx="44">
                  <c:v>33984.370000000003</c:v>
                </c:pt>
                <c:pt idx="45">
                  <c:v>22792.269999999997</c:v>
                </c:pt>
                <c:pt idx="46">
                  <c:v>17222.5</c:v>
                </c:pt>
                <c:pt idx="47">
                  <c:v>17635.020000000004</c:v>
                </c:pt>
                <c:pt idx="48">
                  <c:v>26408.219999999998</c:v>
                </c:pt>
                <c:pt idx="49">
                  <c:v>10587.42</c:v>
                </c:pt>
                <c:pt idx="50">
                  <c:v>28489.539999999997</c:v>
                </c:pt>
                <c:pt idx="51">
                  <c:v>28367.16</c:v>
                </c:pt>
                <c:pt idx="52">
                  <c:v>142329.98000000007</c:v>
                </c:pt>
                <c:pt idx="53">
                  <c:v>29079.780000000013</c:v>
                </c:pt>
                <c:pt idx="54">
                  <c:v>36639.410000000011</c:v>
                </c:pt>
                <c:pt idx="55">
                  <c:v>36543.61</c:v>
                </c:pt>
                <c:pt idx="56">
                  <c:v>21230.420000000006</c:v>
                </c:pt>
                <c:pt idx="57">
                  <c:v>20006.469999999998</c:v>
                </c:pt>
                <c:pt idx="58">
                  <c:v>19160.97</c:v>
                </c:pt>
                <c:pt idx="59">
                  <c:v>17230.810000000001</c:v>
                </c:pt>
                <c:pt idx="60">
                  <c:v>15062.140000000001</c:v>
                </c:pt>
                <c:pt idx="61">
                  <c:v>19286.439999999991</c:v>
                </c:pt>
                <c:pt idx="62">
                  <c:v>55578.700000000012</c:v>
                </c:pt>
                <c:pt idx="63">
                  <c:v>42688.300000000017</c:v>
                </c:pt>
                <c:pt idx="64">
                  <c:v>32012.689999999984</c:v>
                </c:pt>
                <c:pt idx="65">
                  <c:v>28980.819999999996</c:v>
                </c:pt>
                <c:pt idx="66">
                  <c:v>16033.499999999998</c:v>
                </c:pt>
                <c:pt idx="67">
                  <c:v>23233.500000000007</c:v>
                </c:pt>
                <c:pt idx="68">
                  <c:v>53408.029999999984</c:v>
                </c:pt>
                <c:pt idx="69">
                  <c:v>36588.249999999993</c:v>
                </c:pt>
                <c:pt idx="70">
                  <c:v>19609.82</c:v>
                </c:pt>
                <c:pt idx="71">
                  <c:v>16615.459999999992</c:v>
                </c:pt>
                <c:pt idx="72">
                  <c:v>16268.969999999994</c:v>
                </c:pt>
                <c:pt idx="73">
                  <c:v>50452.100000000006</c:v>
                </c:pt>
                <c:pt idx="74">
                  <c:v>23070.560000000001</c:v>
                </c:pt>
                <c:pt idx="75">
                  <c:v>40215.54</c:v>
                </c:pt>
                <c:pt idx="76">
                  <c:v>12630.6</c:v>
                </c:pt>
                <c:pt idx="77">
                  <c:v>29074.340000000011</c:v>
                </c:pt>
                <c:pt idx="78">
                  <c:v>41903.12999999999</c:v>
                </c:pt>
                <c:pt idx="79">
                  <c:v>21856.810000000005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3E-9645-9545-3FAE22F250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812640"/>
        <c:axId val="1472618992"/>
      </c:lineChart>
      <c:catAx>
        <c:axId val="1472812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2618992"/>
        <c:crosses val="autoZero"/>
        <c:auto val="1"/>
        <c:lblAlgn val="ctr"/>
        <c:lblOffset val="100"/>
        <c:noMultiLvlLbl val="0"/>
      </c:catAx>
      <c:valAx>
        <c:axId val="147261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2812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[Peggy Obam-1.05 Project 1.xlsx]Credit in August!PivotTable7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Credit done in August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'Credit in August'!$B$3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'Credit in August'!$A$4:$A$35</c:f>
              <c:strCache>
                <c:ptCount val="31"/>
                <c:pt idx="0">
                  <c:v>8/1/18</c:v>
                </c:pt>
                <c:pt idx="1">
                  <c:v>8/2/18</c:v>
                </c:pt>
                <c:pt idx="2">
                  <c:v>8/3/18</c:v>
                </c:pt>
                <c:pt idx="3">
                  <c:v>8/4/18</c:v>
                </c:pt>
                <c:pt idx="4">
                  <c:v>8/5/18</c:v>
                </c:pt>
                <c:pt idx="5">
                  <c:v>8/6/18</c:v>
                </c:pt>
                <c:pt idx="6">
                  <c:v>8/7/18</c:v>
                </c:pt>
                <c:pt idx="7">
                  <c:v>8/8/18</c:v>
                </c:pt>
                <c:pt idx="8">
                  <c:v>8/9/18</c:v>
                </c:pt>
                <c:pt idx="9">
                  <c:v>8/10/18</c:v>
                </c:pt>
                <c:pt idx="10">
                  <c:v>8/11/18</c:v>
                </c:pt>
                <c:pt idx="11">
                  <c:v>8/12/18</c:v>
                </c:pt>
                <c:pt idx="12">
                  <c:v>8/13/18</c:v>
                </c:pt>
                <c:pt idx="13">
                  <c:v>8/14/18</c:v>
                </c:pt>
                <c:pt idx="14">
                  <c:v>8/15/18</c:v>
                </c:pt>
                <c:pt idx="15">
                  <c:v>8/17/18</c:v>
                </c:pt>
                <c:pt idx="16">
                  <c:v>8/18/18</c:v>
                </c:pt>
                <c:pt idx="17">
                  <c:v>8/19/18</c:v>
                </c:pt>
                <c:pt idx="18">
                  <c:v>8/20/18</c:v>
                </c:pt>
                <c:pt idx="19">
                  <c:v>8/21/18</c:v>
                </c:pt>
                <c:pt idx="20">
                  <c:v>8/22/18</c:v>
                </c:pt>
                <c:pt idx="21">
                  <c:v>8/23/18</c:v>
                </c:pt>
                <c:pt idx="22">
                  <c:v>8/24/18</c:v>
                </c:pt>
                <c:pt idx="23">
                  <c:v>8/25/18</c:v>
                </c:pt>
                <c:pt idx="24">
                  <c:v>8/26/18</c:v>
                </c:pt>
                <c:pt idx="25">
                  <c:v>8/27/18</c:v>
                </c:pt>
                <c:pt idx="26">
                  <c:v>8/28/18</c:v>
                </c:pt>
                <c:pt idx="27">
                  <c:v>8/29/18</c:v>
                </c:pt>
                <c:pt idx="28">
                  <c:v>8/30/18</c:v>
                </c:pt>
                <c:pt idx="29">
                  <c:v>8/31/18</c:v>
                </c:pt>
                <c:pt idx="30">
                  <c:v>(blank)</c:v>
                </c:pt>
              </c:strCache>
            </c:strRef>
          </c:cat>
          <c:val>
            <c:numRef>
              <c:f>'Credit in August'!$B$4:$B$35</c:f>
              <c:numCache>
                <c:formatCode>General</c:formatCode>
                <c:ptCount val="31"/>
                <c:pt idx="0">
                  <c:v>137</c:v>
                </c:pt>
                <c:pt idx="1">
                  <c:v>152</c:v>
                </c:pt>
                <c:pt idx="2">
                  <c:v>157</c:v>
                </c:pt>
                <c:pt idx="3">
                  <c:v>118</c:v>
                </c:pt>
                <c:pt idx="4">
                  <c:v>100</c:v>
                </c:pt>
                <c:pt idx="5">
                  <c:v>99</c:v>
                </c:pt>
                <c:pt idx="6">
                  <c:v>114</c:v>
                </c:pt>
                <c:pt idx="7">
                  <c:v>141</c:v>
                </c:pt>
                <c:pt idx="8">
                  <c:v>149</c:v>
                </c:pt>
                <c:pt idx="9">
                  <c:v>151</c:v>
                </c:pt>
                <c:pt idx="10">
                  <c:v>131</c:v>
                </c:pt>
                <c:pt idx="11">
                  <c:v>109</c:v>
                </c:pt>
                <c:pt idx="12">
                  <c:v>104</c:v>
                </c:pt>
                <c:pt idx="13">
                  <c:v>117</c:v>
                </c:pt>
                <c:pt idx="14">
                  <c:v>144</c:v>
                </c:pt>
                <c:pt idx="15">
                  <c:v>172</c:v>
                </c:pt>
                <c:pt idx="16">
                  <c:v>136</c:v>
                </c:pt>
                <c:pt idx="17">
                  <c:v>118</c:v>
                </c:pt>
                <c:pt idx="18">
                  <c:v>97</c:v>
                </c:pt>
                <c:pt idx="19">
                  <c:v>118</c:v>
                </c:pt>
                <c:pt idx="20">
                  <c:v>150</c:v>
                </c:pt>
                <c:pt idx="21">
                  <c:v>152</c:v>
                </c:pt>
                <c:pt idx="22">
                  <c:v>156</c:v>
                </c:pt>
                <c:pt idx="23">
                  <c:v>131</c:v>
                </c:pt>
                <c:pt idx="24">
                  <c:v>116</c:v>
                </c:pt>
                <c:pt idx="25">
                  <c:v>111</c:v>
                </c:pt>
                <c:pt idx="26">
                  <c:v>128</c:v>
                </c:pt>
                <c:pt idx="27">
                  <c:v>139</c:v>
                </c:pt>
                <c:pt idx="28">
                  <c:v>143</c:v>
                </c:pt>
                <c:pt idx="29">
                  <c:v>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F1-854A-9727-3BF24CB352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29154688"/>
        <c:axId val="347418992"/>
      </c:lineChart>
      <c:catAx>
        <c:axId val="729154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7418992"/>
        <c:crosses val="autoZero"/>
        <c:auto val="1"/>
        <c:lblAlgn val="ctr"/>
        <c:lblOffset val="100"/>
        <c:noMultiLvlLbl val="0"/>
      </c:catAx>
      <c:valAx>
        <c:axId val="34741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9154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[Peggy Obam-1.05 Project 1.xlsx]Daily Tx in Sept,2018!PivotTable5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</a:t>
            </a:r>
            <a:r>
              <a:rPr lang="en-US" baseline="0"/>
              <a:t> </a:t>
            </a:r>
            <a:r>
              <a:rPr lang="en-US"/>
              <a:t>Transaction made Daily</a:t>
            </a:r>
          </a:p>
          <a:p>
            <a:pPr>
              <a:defRPr/>
            </a:pPr>
            <a:r>
              <a:rPr lang="en-US"/>
              <a:t> in September,2018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'Daily Tx in Sept,2018'!$B$3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'Daily Tx in Sept,2018'!$A$4:$A$35</c:f>
              <c:strCache>
                <c:ptCount val="31"/>
                <c:pt idx="0">
                  <c:v>9/1/18</c:v>
                </c:pt>
                <c:pt idx="1">
                  <c:v>9/2/18</c:v>
                </c:pt>
                <c:pt idx="2">
                  <c:v>9/3/18</c:v>
                </c:pt>
                <c:pt idx="3">
                  <c:v>9/4/18</c:v>
                </c:pt>
                <c:pt idx="4">
                  <c:v>9/5/18</c:v>
                </c:pt>
                <c:pt idx="5">
                  <c:v>9/6/18</c:v>
                </c:pt>
                <c:pt idx="6">
                  <c:v>9/7/18</c:v>
                </c:pt>
                <c:pt idx="7">
                  <c:v>9/8/18</c:v>
                </c:pt>
                <c:pt idx="8">
                  <c:v>9/9/18</c:v>
                </c:pt>
                <c:pt idx="9">
                  <c:v>9/10/18</c:v>
                </c:pt>
                <c:pt idx="10">
                  <c:v>9/11/18</c:v>
                </c:pt>
                <c:pt idx="11">
                  <c:v>9/12/18</c:v>
                </c:pt>
                <c:pt idx="12">
                  <c:v>9/13/18</c:v>
                </c:pt>
                <c:pt idx="13">
                  <c:v>9/14/18</c:v>
                </c:pt>
                <c:pt idx="14">
                  <c:v>9/15/18</c:v>
                </c:pt>
                <c:pt idx="15">
                  <c:v>9/16/18</c:v>
                </c:pt>
                <c:pt idx="16">
                  <c:v>9/17/18</c:v>
                </c:pt>
                <c:pt idx="17">
                  <c:v>9/18/18</c:v>
                </c:pt>
                <c:pt idx="18">
                  <c:v>9/19/18</c:v>
                </c:pt>
                <c:pt idx="19">
                  <c:v>9/20/18</c:v>
                </c:pt>
                <c:pt idx="20">
                  <c:v>9/21/18</c:v>
                </c:pt>
                <c:pt idx="21">
                  <c:v>9/22/18</c:v>
                </c:pt>
                <c:pt idx="22">
                  <c:v>9/23/18</c:v>
                </c:pt>
                <c:pt idx="23">
                  <c:v>9/24/18</c:v>
                </c:pt>
                <c:pt idx="24">
                  <c:v>9/25/18</c:v>
                </c:pt>
                <c:pt idx="25">
                  <c:v>9/26/18</c:v>
                </c:pt>
                <c:pt idx="26">
                  <c:v>9/27/18</c:v>
                </c:pt>
                <c:pt idx="27">
                  <c:v>9/28/18</c:v>
                </c:pt>
                <c:pt idx="28">
                  <c:v>9/29/18</c:v>
                </c:pt>
                <c:pt idx="29">
                  <c:v>9/30/18</c:v>
                </c:pt>
                <c:pt idx="30">
                  <c:v>(blank)</c:v>
                </c:pt>
              </c:strCache>
            </c:strRef>
          </c:cat>
          <c:val>
            <c:numRef>
              <c:f>'Daily Tx in Sept,2018'!$B$4:$B$35</c:f>
              <c:numCache>
                <c:formatCode>General</c:formatCode>
                <c:ptCount val="31"/>
                <c:pt idx="0">
                  <c:v>137</c:v>
                </c:pt>
                <c:pt idx="1">
                  <c:v>129</c:v>
                </c:pt>
                <c:pt idx="2">
                  <c:v>109</c:v>
                </c:pt>
                <c:pt idx="3">
                  <c:v>125</c:v>
                </c:pt>
                <c:pt idx="4">
                  <c:v>149</c:v>
                </c:pt>
                <c:pt idx="5">
                  <c:v>152</c:v>
                </c:pt>
                <c:pt idx="6">
                  <c:v>152</c:v>
                </c:pt>
                <c:pt idx="7">
                  <c:v>129</c:v>
                </c:pt>
                <c:pt idx="8">
                  <c:v>120</c:v>
                </c:pt>
                <c:pt idx="9">
                  <c:v>103</c:v>
                </c:pt>
                <c:pt idx="10">
                  <c:v>118</c:v>
                </c:pt>
                <c:pt idx="11">
                  <c:v>149</c:v>
                </c:pt>
                <c:pt idx="12">
                  <c:v>154</c:v>
                </c:pt>
                <c:pt idx="13">
                  <c:v>161</c:v>
                </c:pt>
                <c:pt idx="14">
                  <c:v>127</c:v>
                </c:pt>
                <c:pt idx="15">
                  <c:v>118</c:v>
                </c:pt>
                <c:pt idx="16">
                  <c:v>112</c:v>
                </c:pt>
                <c:pt idx="17">
                  <c:v>126</c:v>
                </c:pt>
                <c:pt idx="18">
                  <c:v>148</c:v>
                </c:pt>
                <c:pt idx="19">
                  <c:v>146</c:v>
                </c:pt>
                <c:pt idx="20">
                  <c:v>160</c:v>
                </c:pt>
                <c:pt idx="21">
                  <c:v>137</c:v>
                </c:pt>
                <c:pt idx="22">
                  <c:v>114</c:v>
                </c:pt>
                <c:pt idx="23">
                  <c:v>101</c:v>
                </c:pt>
                <c:pt idx="24">
                  <c:v>117</c:v>
                </c:pt>
                <c:pt idx="25">
                  <c:v>149</c:v>
                </c:pt>
                <c:pt idx="26">
                  <c:v>159</c:v>
                </c:pt>
                <c:pt idx="27">
                  <c:v>174</c:v>
                </c:pt>
                <c:pt idx="28">
                  <c:v>131</c:v>
                </c:pt>
                <c:pt idx="29">
                  <c:v>107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17-9E48-9A46-BC14CA0D4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9035792"/>
        <c:axId val="1275046544"/>
      </c:lineChart>
      <c:catAx>
        <c:axId val="859035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5046544"/>
        <c:crosses val="autoZero"/>
        <c:auto val="1"/>
        <c:lblAlgn val="ctr"/>
        <c:lblOffset val="100"/>
        <c:noMultiLvlLbl val="0"/>
      </c:catAx>
      <c:valAx>
        <c:axId val="1275046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035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41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79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49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76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959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67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6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960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70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09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7CD5B-4BEF-364D-B5A5-43C3243E3257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77BAC8E-12A7-7949-9701-2DDE5111B571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93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3099-0399-3334-CC5E-B02BE91E34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CUSTOMER SEGMENTATION &amp; DATA PROFILING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BF3C4B-529B-458C-3AAA-073EC0BC1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1-Data Cleaning</a:t>
            </a:r>
          </a:p>
        </p:txBody>
      </p:sp>
    </p:spTree>
    <p:extLst>
      <p:ext uri="{BB962C8B-B14F-4D97-AF65-F5344CB8AC3E}">
        <p14:creationId xmlns:p14="http://schemas.microsoft.com/office/powerpoint/2010/main" val="250408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13E6-E098-A1A8-D15B-BF6B004F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CADEMY ENGRAVED LET PLAIN:1.0" panose="02000000000000000000" pitchFamily="2" charset="0"/>
              </a:rPr>
              <a:t>Overview of the dataset and key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FE1D6-D771-23D6-934C-91D365A8C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data set is 4326, with 1896 Females and 2430 males</a:t>
            </a:r>
          </a:p>
          <a:p>
            <a:r>
              <a:rPr lang="en-US" dirty="0"/>
              <a:t>The data has missing values on columns B-card </a:t>
            </a:r>
            <a:r>
              <a:rPr lang="en-US" dirty="0" err="1"/>
              <a:t>present,column</a:t>
            </a:r>
            <a:r>
              <a:rPr lang="en-US"/>
              <a:t> I-merchant suburb, column J-merchant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95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A16A7-0BEC-0FA3-27E9-23106DF65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CADEMY ENGRAVED LET PLAIN:1.0" panose="02000000000000000000" pitchFamily="2" charset="0"/>
              </a:rPr>
              <a:t>Trends and patterns in transaction volume and spending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B3ECA3-7945-4BE1-33BF-6896FDCB7C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4960901"/>
              </p:ext>
            </p:extLst>
          </p:nvPr>
        </p:nvGraphicFramePr>
        <p:xfrm>
          <a:off x="838201" y="1690689"/>
          <a:ext cx="3931508" cy="2164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986F83F-9F39-5C3A-6740-B92E46564F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438613"/>
              </p:ext>
            </p:extLst>
          </p:nvPr>
        </p:nvGraphicFramePr>
        <p:xfrm>
          <a:off x="5855043" y="1350425"/>
          <a:ext cx="5016842" cy="2690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AB3ECA3-7945-4BE1-33BF-6896FDCB7C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938915"/>
              </p:ext>
            </p:extLst>
          </p:nvPr>
        </p:nvGraphicFramePr>
        <p:xfrm>
          <a:off x="838200" y="4188941"/>
          <a:ext cx="4092146" cy="2499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30D1F70-21EC-2F16-9302-207842E0C2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152649"/>
              </p:ext>
            </p:extLst>
          </p:nvPr>
        </p:nvGraphicFramePr>
        <p:xfrm>
          <a:off x="5286633" y="3993423"/>
          <a:ext cx="5016841" cy="2499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4131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13D1-EDE0-33E1-A00A-05156526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CADEMY ENGRAVED LET PLAIN:1.0" panose="02000000000000000000" pitchFamily="2" charset="0"/>
              </a:rPr>
              <a:t>Key Take aways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4751B-8FAA-6B31-5786-2B7D080B4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transactions occur on Friday especially</a:t>
            </a:r>
          </a:p>
          <a:p>
            <a:r>
              <a:rPr lang="en-US" dirty="0"/>
              <a:t>Accounts are credit throughout the week but mostly on weekly and bi-weekly basis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1002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{2B930A4C-8417-9E49-A255-27474368DF03}tf10001119</Template>
  <TotalTime>14301</TotalTime>
  <Words>104</Words>
  <Application>Microsoft Macintosh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ACADEMY ENGRAVED LET PLAIN:1.0</vt:lpstr>
      <vt:lpstr>Arial</vt:lpstr>
      <vt:lpstr>Palatino Linotype</vt:lpstr>
      <vt:lpstr>Gallery</vt:lpstr>
      <vt:lpstr>CUSTOMER SEGMENTATION &amp; DATA PROFILING</vt:lpstr>
      <vt:lpstr>Overview of the dataset and key statistics</vt:lpstr>
      <vt:lpstr>Trends and patterns in transaction volume and spending</vt:lpstr>
      <vt:lpstr>Key Take aways and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peggy obam</dc:creator>
  <cp:lastModifiedBy>peggy obam</cp:lastModifiedBy>
  <cp:revision>4</cp:revision>
  <dcterms:created xsi:type="dcterms:W3CDTF">2025-04-04T12:48:35Z</dcterms:created>
  <dcterms:modified xsi:type="dcterms:W3CDTF">2025-04-22T18:11:40Z</dcterms:modified>
</cp:coreProperties>
</file>